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handoutMasterIdLst>
    <p:handoutMasterId r:id="rId15"/>
  </p:handoutMasterIdLst>
  <p:sldIdLst>
    <p:sldId id="275" r:id="rId2"/>
    <p:sldId id="388" r:id="rId3"/>
    <p:sldId id="390" r:id="rId4"/>
    <p:sldId id="391" r:id="rId5"/>
    <p:sldId id="392" r:id="rId6"/>
    <p:sldId id="393" r:id="rId7"/>
    <p:sldId id="394" r:id="rId8"/>
    <p:sldId id="395" r:id="rId9"/>
    <p:sldId id="396" r:id="rId10"/>
    <p:sldId id="397" r:id="rId11"/>
    <p:sldId id="366" r:id="rId12"/>
    <p:sldId id="301"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EBD479-269A-43A1-A1DB-71DE447CA0CC}" v="16" dt="2026-09-16T15:16:20.3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p:cViewPr varScale="1">
        <p:scale>
          <a:sx n="78" d="100"/>
          <a:sy n="78" d="100"/>
        </p:scale>
        <p:origin x="185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ullah Fazil S." userId="9b3a76fcac258117" providerId="LiveId" clId="{98274CAF-746A-4527-A15C-0B2ECFC66CBD}"/>
    <pc:docChg chg="undo custSel addSld modSld">
      <pc:chgData name="Amanullah Fazil S." userId="9b3a76fcac258117" providerId="LiveId" clId="{98274CAF-746A-4527-A15C-0B2ECFC66CBD}" dt="2026-09-16T15:42:59.570" v="2765" actId="14100"/>
      <pc:docMkLst>
        <pc:docMk/>
      </pc:docMkLst>
      <pc:sldChg chg="addSp delSp modSp mod">
        <pc:chgData name="Amanullah Fazil S." userId="9b3a76fcac258117" providerId="LiveId" clId="{98274CAF-746A-4527-A15C-0B2ECFC66CBD}" dt="2026-09-16T15:15:42.367" v="2753"/>
        <pc:sldMkLst>
          <pc:docMk/>
          <pc:sldMk cId="0" sldId="275"/>
        </pc:sldMkLst>
        <pc:spChg chg="add del mod">
          <ac:chgData name="Amanullah Fazil S." userId="9b3a76fcac258117" providerId="LiveId" clId="{98274CAF-746A-4527-A15C-0B2ECFC66CBD}" dt="2026-09-16T15:15:42.367" v="2753"/>
          <ac:spMkLst>
            <pc:docMk/>
            <pc:sldMk cId="0" sldId="275"/>
            <ac:spMk id="2" creationId="{EEAC2C51-9DFC-D86E-7826-0B0A31340409}"/>
          </ac:spMkLst>
        </pc:spChg>
        <pc:spChg chg="mod">
          <ac:chgData name="Amanullah Fazil S." userId="9b3a76fcac258117" providerId="LiveId" clId="{98274CAF-746A-4527-A15C-0B2ECFC66CBD}" dt="2026-09-16T15:15:40.046" v="2751" actId="20577"/>
          <ac:spMkLst>
            <pc:docMk/>
            <pc:sldMk cId="0" sldId="275"/>
            <ac:spMk id="17" creationId="{00000000-0000-0000-0000-000000000000}"/>
          </ac:spMkLst>
        </pc:spChg>
        <pc:spChg chg="mod">
          <ac:chgData name="Amanullah Fazil S." userId="9b3a76fcac258117" providerId="LiveId" clId="{98274CAF-746A-4527-A15C-0B2ECFC66CBD}" dt="2026-09-16T14:43:08.669" v="447" actId="20577"/>
          <ac:spMkLst>
            <pc:docMk/>
            <pc:sldMk cId="0" sldId="275"/>
            <ac:spMk id="29" creationId="{431E86DB-7CEA-B3DC-1DF2-33457A550B1A}"/>
          </ac:spMkLst>
        </pc:spChg>
      </pc:sldChg>
      <pc:sldChg chg="modSp add mod">
        <pc:chgData name="Amanullah Fazil S." userId="9b3a76fcac258117" providerId="LiveId" clId="{98274CAF-746A-4527-A15C-0B2ECFC66CBD}" dt="2026-09-16T14:57:05.676" v="1244" actId="20577"/>
        <pc:sldMkLst>
          <pc:docMk/>
          <pc:sldMk cId="959492119" sldId="391"/>
        </pc:sldMkLst>
        <pc:spChg chg="mod">
          <ac:chgData name="Amanullah Fazil S." userId="9b3a76fcac258117" providerId="LiveId" clId="{98274CAF-746A-4527-A15C-0B2ECFC66CBD}" dt="2026-09-16T14:37:20.885" v="75" actId="20577"/>
          <ac:spMkLst>
            <pc:docMk/>
            <pc:sldMk cId="959492119" sldId="391"/>
            <ac:spMk id="2" creationId="{00A33B6F-3DCA-7A91-6819-694902F6F6DE}"/>
          </ac:spMkLst>
        </pc:spChg>
        <pc:spChg chg="mod">
          <ac:chgData name="Amanullah Fazil S." userId="9b3a76fcac258117" providerId="LiveId" clId="{98274CAF-746A-4527-A15C-0B2ECFC66CBD}" dt="2026-09-16T14:57:05.676" v="1244" actId="20577"/>
          <ac:spMkLst>
            <pc:docMk/>
            <pc:sldMk cId="959492119" sldId="391"/>
            <ac:spMk id="4" creationId="{88D06A02-C8E4-A0ED-C552-68C6864B1FFB}"/>
          </ac:spMkLst>
        </pc:spChg>
      </pc:sldChg>
      <pc:sldChg chg="modSp add mod">
        <pc:chgData name="Amanullah Fazil S." userId="9b3a76fcac258117" providerId="LiveId" clId="{98274CAF-746A-4527-A15C-0B2ECFC66CBD}" dt="2026-09-16T15:05:16.769" v="2080" actId="20577"/>
        <pc:sldMkLst>
          <pc:docMk/>
          <pc:sldMk cId="191063058" sldId="392"/>
        </pc:sldMkLst>
        <pc:spChg chg="mod">
          <ac:chgData name="Amanullah Fazil S." userId="9b3a76fcac258117" providerId="LiveId" clId="{98274CAF-746A-4527-A15C-0B2ECFC66CBD}" dt="2026-09-16T14:37:41.984" v="106" actId="20577"/>
          <ac:spMkLst>
            <pc:docMk/>
            <pc:sldMk cId="191063058" sldId="392"/>
            <ac:spMk id="2" creationId="{B4813803-9C2B-4765-6CF6-32EE10C8E04C}"/>
          </ac:spMkLst>
        </pc:spChg>
        <pc:spChg chg="mod">
          <ac:chgData name="Amanullah Fazil S." userId="9b3a76fcac258117" providerId="LiveId" clId="{98274CAF-746A-4527-A15C-0B2ECFC66CBD}" dt="2026-09-16T15:05:16.769" v="2080" actId="20577"/>
          <ac:spMkLst>
            <pc:docMk/>
            <pc:sldMk cId="191063058" sldId="392"/>
            <ac:spMk id="4" creationId="{025EF12F-DE6B-6899-6AA0-D5D46BFE8AAB}"/>
          </ac:spMkLst>
        </pc:spChg>
      </pc:sldChg>
      <pc:sldChg chg="addSp delSp modSp add mod">
        <pc:chgData name="Amanullah Fazil S." userId="9b3a76fcac258117" providerId="LiveId" clId="{98274CAF-746A-4527-A15C-0B2ECFC66CBD}" dt="2026-09-16T15:14:33.682" v="2677" actId="113"/>
        <pc:sldMkLst>
          <pc:docMk/>
          <pc:sldMk cId="2879093973" sldId="393"/>
        </pc:sldMkLst>
        <pc:spChg chg="mod">
          <ac:chgData name="Amanullah Fazil S." userId="9b3a76fcac258117" providerId="LiveId" clId="{98274CAF-746A-4527-A15C-0B2ECFC66CBD}" dt="2026-09-16T14:38:19.140" v="146" actId="20577"/>
          <ac:spMkLst>
            <pc:docMk/>
            <pc:sldMk cId="2879093973" sldId="393"/>
            <ac:spMk id="2" creationId="{FBE19DCB-E8D7-1B1B-0AC0-9E215E3B2A1B}"/>
          </ac:spMkLst>
        </pc:spChg>
        <pc:spChg chg="add del mod">
          <ac:chgData name="Amanullah Fazil S." userId="9b3a76fcac258117" providerId="LiveId" clId="{98274CAF-746A-4527-A15C-0B2ECFC66CBD}" dt="2026-09-16T14:38:08.976" v="142"/>
          <ac:spMkLst>
            <pc:docMk/>
            <pc:sldMk cId="2879093973" sldId="393"/>
            <ac:spMk id="3" creationId="{B5E178E5-DE77-4055-8566-1EEB84AE348C}"/>
          </ac:spMkLst>
        </pc:spChg>
        <pc:spChg chg="mod">
          <ac:chgData name="Amanullah Fazil S." userId="9b3a76fcac258117" providerId="LiveId" clId="{98274CAF-746A-4527-A15C-0B2ECFC66CBD}" dt="2026-09-16T15:14:33.682" v="2677" actId="113"/>
          <ac:spMkLst>
            <pc:docMk/>
            <pc:sldMk cId="2879093973" sldId="393"/>
            <ac:spMk id="4" creationId="{38A960C5-3386-7587-B05D-065DAA155712}"/>
          </ac:spMkLst>
        </pc:spChg>
      </pc:sldChg>
      <pc:sldChg chg="addSp delSp modSp add mod">
        <pc:chgData name="Amanullah Fazil S." userId="9b3a76fcac258117" providerId="LiveId" clId="{98274CAF-746A-4527-A15C-0B2ECFC66CBD}" dt="2026-09-16T15:42:59.570" v="2765" actId="14100"/>
        <pc:sldMkLst>
          <pc:docMk/>
          <pc:sldMk cId="2173184921" sldId="394"/>
        </pc:sldMkLst>
        <pc:spChg chg="mod">
          <ac:chgData name="Amanullah Fazil S." userId="9b3a76fcac258117" providerId="LiveId" clId="{98274CAF-746A-4527-A15C-0B2ECFC66CBD}" dt="2026-09-16T14:38:42.500" v="184" actId="20577"/>
          <ac:spMkLst>
            <pc:docMk/>
            <pc:sldMk cId="2173184921" sldId="394"/>
            <ac:spMk id="2" creationId="{CF6C0D11-0176-1278-8A62-D16FD56E9CB1}"/>
          </ac:spMkLst>
        </pc:spChg>
        <pc:spChg chg="add del mod">
          <ac:chgData name="Amanullah Fazil S." userId="9b3a76fcac258117" providerId="LiveId" clId="{98274CAF-746A-4527-A15C-0B2ECFC66CBD}" dt="2026-09-16T15:16:21.560" v="2756"/>
          <ac:spMkLst>
            <pc:docMk/>
            <pc:sldMk cId="2173184921" sldId="394"/>
            <ac:spMk id="3" creationId="{DBC12F33-FBBC-B00F-08EB-EBB6B6F10E7E}"/>
          </ac:spMkLst>
        </pc:spChg>
        <pc:spChg chg="del">
          <ac:chgData name="Amanullah Fazil S." userId="9b3a76fcac258117" providerId="LiveId" clId="{98274CAF-746A-4527-A15C-0B2ECFC66CBD}" dt="2026-09-16T15:41:54.372" v="2757" actId="931"/>
          <ac:spMkLst>
            <pc:docMk/>
            <pc:sldMk cId="2173184921" sldId="394"/>
            <ac:spMk id="4" creationId="{F675AAF1-8421-8CC0-A8D6-CF1D4A9CE4E5}"/>
          </ac:spMkLst>
        </pc:spChg>
        <pc:picChg chg="add mod ord">
          <ac:chgData name="Amanullah Fazil S." userId="9b3a76fcac258117" providerId="LiveId" clId="{98274CAF-746A-4527-A15C-0B2ECFC66CBD}" dt="2026-09-16T15:42:59.570" v="2765" actId="14100"/>
          <ac:picMkLst>
            <pc:docMk/>
            <pc:sldMk cId="2173184921" sldId="394"/>
            <ac:picMk id="8" creationId="{2B987D4A-75A0-1043-F097-CB1EA0D5F7AF}"/>
          </ac:picMkLst>
        </pc:picChg>
      </pc:sldChg>
      <pc:sldChg chg="modSp add mod">
        <pc:chgData name="Amanullah Fazil S." userId="9b3a76fcac258117" providerId="LiveId" clId="{98274CAF-746A-4527-A15C-0B2ECFC66CBD}" dt="2026-09-16T14:39:05.662" v="230" actId="20577"/>
        <pc:sldMkLst>
          <pc:docMk/>
          <pc:sldMk cId="3232146401" sldId="395"/>
        </pc:sldMkLst>
        <pc:spChg chg="mod">
          <ac:chgData name="Amanullah Fazil S." userId="9b3a76fcac258117" providerId="LiveId" clId="{98274CAF-746A-4527-A15C-0B2ECFC66CBD}" dt="2026-09-16T14:39:05.662" v="230" actId="20577"/>
          <ac:spMkLst>
            <pc:docMk/>
            <pc:sldMk cId="3232146401" sldId="395"/>
            <ac:spMk id="2" creationId="{3253955E-DDE5-B8DF-EB13-3E492ED77D56}"/>
          </ac:spMkLst>
        </pc:spChg>
      </pc:sldChg>
      <pc:sldChg chg="modSp add mod">
        <pc:chgData name="Amanullah Fazil S." userId="9b3a76fcac258117" providerId="LiveId" clId="{98274CAF-746A-4527-A15C-0B2ECFC66CBD}" dt="2026-09-16T14:39:29.372" v="291" actId="27636"/>
        <pc:sldMkLst>
          <pc:docMk/>
          <pc:sldMk cId="1993977511" sldId="396"/>
        </pc:sldMkLst>
        <pc:spChg chg="mod">
          <ac:chgData name="Amanullah Fazil S." userId="9b3a76fcac258117" providerId="LiveId" clId="{98274CAF-746A-4527-A15C-0B2ECFC66CBD}" dt="2026-09-16T14:39:29.372" v="291" actId="27636"/>
          <ac:spMkLst>
            <pc:docMk/>
            <pc:sldMk cId="1993977511" sldId="396"/>
            <ac:spMk id="2" creationId="{F1F68EB4-A0FD-0997-7EDC-EBED1996CC6A}"/>
          </ac:spMkLst>
        </pc:spChg>
      </pc:sldChg>
      <pc:sldChg chg="modSp add mod">
        <pc:chgData name="Amanullah Fazil S." userId="9b3a76fcac258117" providerId="LiveId" clId="{98274CAF-746A-4527-A15C-0B2ECFC66CBD}" dt="2026-09-16T14:39:47.315" v="320" actId="20577"/>
        <pc:sldMkLst>
          <pc:docMk/>
          <pc:sldMk cId="1626060961" sldId="397"/>
        </pc:sldMkLst>
        <pc:spChg chg="mod">
          <ac:chgData name="Amanullah Fazil S." userId="9b3a76fcac258117" providerId="LiveId" clId="{98274CAF-746A-4527-A15C-0B2ECFC66CBD}" dt="2026-09-16T14:39:47.315" v="320" actId="20577"/>
          <ac:spMkLst>
            <pc:docMk/>
            <pc:sldMk cId="1626060961" sldId="397"/>
            <ac:spMk id="2" creationId="{60EDFCFD-9082-921A-AFEB-205D66953B6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9/17/2026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9/17/2026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11</a:t>
            </a:fld>
            <a:endParaRPr lang="en-US"/>
          </a:p>
        </p:txBody>
      </p:sp>
    </p:spTree>
    <p:extLst>
      <p:ext uri="{BB962C8B-B14F-4D97-AF65-F5344CB8AC3E}">
        <p14:creationId xmlns:p14="http://schemas.microsoft.com/office/powerpoint/2010/main" val="201504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17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17 September 2026</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17 September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17 September 2026</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17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17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17 September 2026</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17 September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itchFamily="34" charset="0"/>
                <a:cs typeface="Arial" pitchFamily="34" charset="0"/>
              </a:rPr>
            </a:b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1293627" y="3512438"/>
            <a:ext cx="6709143" cy="885409"/>
          </a:xfrm>
        </p:spPr>
        <p:txBody>
          <a:bodyPr>
            <a:normAutofit/>
          </a:bodyPr>
          <a:lstStyle/>
          <a:p>
            <a:r>
              <a:rPr lang="en-US" sz="2600" b="1" dirty="0">
                <a:solidFill>
                  <a:schemeClr val="tx1"/>
                </a:solidFill>
                <a:latin typeface="Arial" pitchFamily="34" charset="0"/>
                <a:cs typeface="Arial" pitchFamily="34" charset="0"/>
              </a:rPr>
              <a:t>Plant Disease Detection using Image Classification</a:t>
            </a:r>
            <a:endParaRPr lang="en-US" sz="2600" b="1" dirty="0">
              <a:solidFill>
                <a:srgbClr val="7030A0"/>
              </a:solidFill>
              <a:latin typeface="Arial" pitchFamily="34" charset="0"/>
              <a:cs typeface="Arial" pitchFamily="34" charset="0"/>
            </a:endParaRP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17 September 2026</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pPr/>
              <a:t>1</a:t>
            </a:fld>
            <a:endParaRPr lang="en-US"/>
          </a:p>
        </p:txBody>
      </p:sp>
      <p:sp>
        <p:nvSpPr>
          <p:cNvPr id="14" name="TextBox 13">
            <a:extLst>
              <a:ext uri="{FF2B5EF4-FFF2-40B4-BE49-F238E27FC236}">
                <a16:creationId xmlns:a16="http://schemas.microsoft.com/office/drawing/2014/main" id="{41C8031F-DC64-6DA7-5E1D-856D8119A1D3}"/>
              </a:ext>
            </a:extLst>
          </p:cNvPr>
          <p:cNvSpPr txBox="1"/>
          <p:nvPr/>
        </p:nvSpPr>
        <p:spPr>
          <a:xfrm>
            <a:off x="342898" y="2245640"/>
            <a:ext cx="8610599" cy="1292662"/>
          </a:xfrm>
          <a:prstGeom prst="rect">
            <a:avLst/>
          </a:prstGeom>
          <a:noFill/>
        </p:spPr>
        <p:txBody>
          <a:bodyPr wrap="square">
            <a:spAutoFit/>
          </a:bodyPr>
          <a:lstStyle/>
          <a:p>
            <a:pPr algn="ctr"/>
            <a:endParaRPr lang="en-IN" sz="2000" b="1" dirty="0">
              <a:latin typeface="Arial" panose="020B0604020202020204" pitchFamily="34" charset="0"/>
              <a:cs typeface="Arial" panose="020B0604020202020204" pitchFamily="34" charset="0"/>
            </a:endParaRPr>
          </a:p>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b="1" dirty="0"/>
              <a:t>Professional Training I</a:t>
            </a:r>
          </a:p>
        </p:txBody>
      </p:sp>
      <p:sp>
        <p:nvSpPr>
          <p:cNvPr id="29" name="Subtitle 2">
            <a:extLst>
              <a:ext uri="{FF2B5EF4-FFF2-40B4-BE49-F238E27FC236}">
                <a16:creationId xmlns:a16="http://schemas.microsoft.com/office/drawing/2014/main" id="{431E86DB-7CEA-B3DC-1DF2-33457A550B1A}"/>
              </a:ext>
            </a:extLst>
          </p:cNvPr>
          <p:cNvSpPr txBox="1">
            <a:spLocks/>
          </p:cNvSpPr>
          <p:nvPr/>
        </p:nvSpPr>
        <p:spPr>
          <a:xfrm>
            <a:off x="457200" y="4901084"/>
            <a:ext cx="8381999" cy="148788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STUDENT                                                  GUIDE</a:t>
            </a:r>
          </a:p>
          <a:p>
            <a:pPr algn="l"/>
            <a:r>
              <a:rPr lang="en-US" sz="2000" b="1" dirty="0">
                <a:solidFill>
                  <a:schemeClr val="tx1"/>
                </a:solidFill>
              </a:rPr>
              <a:t>S AMANULLAH FAZIL, 44111431                                     Ms. P. Kabitha					                       </a:t>
            </a:r>
            <a:endParaRPr lang="en-GB" sz="2000" dirty="0">
              <a:solidFill>
                <a:schemeClr val="tx1"/>
              </a:solidFil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898" y="326239"/>
            <a:ext cx="8496301" cy="20431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457200" y="1600993"/>
            <a:ext cx="8229600" cy="4525963"/>
          </a:xfrm>
        </p:spPr>
        <p:txBody>
          <a:bodyPr>
            <a:normAutofit fontScale="92500" lnSpcReduction="20000"/>
          </a:bodyPr>
          <a:lstStyle/>
          <a:p>
            <a:r>
              <a:rPr lang="en-US" dirty="0"/>
              <a:t>Certificate</a:t>
            </a:r>
          </a:p>
          <a:p>
            <a:r>
              <a:rPr lang="en-US" dirty="0"/>
              <a:t>Abstract</a:t>
            </a:r>
          </a:p>
          <a:p>
            <a:r>
              <a:rPr lang="en-US" dirty="0"/>
              <a:t>Introduction</a:t>
            </a:r>
          </a:p>
          <a:p>
            <a:r>
              <a:rPr lang="en-US" dirty="0"/>
              <a:t>Objective</a:t>
            </a:r>
          </a:p>
          <a:p>
            <a:r>
              <a:rPr lang="en-US" dirty="0"/>
              <a:t>System Architecture / Ideation Map</a:t>
            </a:r>
          </a:p>
          <a:p>
            <a:r>
              <a:rPr lang="en-US" dirty="0"/>
              <a:t>Module Implementation</a:t>
            </a:r>
          </a:p>
          <a:p>
            <a:r>
              <a:rPr lang="en-US" dirty="0"/>
              <a:t>Results and Discussions</a:t>
            </a:r>
          </a:p>
          <a:p>
            <a:r>
              <a:rPr lang="en-US" dirty="0"/>
              <a:t>Conclusion</a:t>
            </a:r>
          </a:p>
          <a:p>
            <a:r>
              <a:rPr lang="en-US" dirty="0"/>
              <a:t>References</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a:t>
            </a:fld>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r>
              <a:rPr lang="en-US" sz="3600" dirty="0"/>
              <a:t>COURSE CERTIFICATE</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fld id="{7B28076C-CE04-4A00-BFAA-A90EA8355859}" type="slidenum">
              <a:rPr lang="en-US" smtClean="0"/>
              <a:pPr/>
              <a:t>3</a:t>
            </a:fld>
            <a:endParaRPr lang="en-US" dirty="0"/>
          </a:p>
        </p:txBody>
      </p:sp>
      <p:sp>
        <p:nvSpPr>
          <p:cNvPr id="4" name="Content Placeholder 3"/>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4270359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9AAC3-247A-1415-335F-35C494E4D0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33B6F-3DCA-7A91-6819-694902F6F6DE}"/>
              </a:ext>
            </a:extLst>
          </p:cNvPr>
          <p:cNvSpPr>
            <a:spLocks noGrp="1"/>
          </p:cNvSpPr>
          <p:nvPr>
            <p:ph type="title"/>
          </p:nvPr>
        </p:nvSpPr>
        <p:spPr/>
        <p:txBody>
          <a:bodyPr>
            <a:normAutofit/>
          </a:bodyPr>
          <a:lstStyle/>
          <a:p>
            <a:r>
              <a:rPr lang="en-US" sz="3600" dirty="0"/>
              <a:t>ABSTRACT</a:t>
            </a:r>
          </a:p>
        </p:txBody>
      </p:sp>
      <p:sp>
        <p:nvSpPr>
          <p:cNvPr id="5" name="Footer Placeholder 4">
            <a:extLst>
              <a:ext uri="{FF2B5EF4-FFF2-40B4-BE49-F238E27FC236}">
                <a16:creationId xmlns:a16="http://schemas.microsoft.com/office/drawing/2014/main" id="{5FEA4769-555E-D340-A9AB-CA3CE4F6CE1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A705F95-0364-E5CA-702E-30265267EC76}"/>
              </a:ext>
            </a:extLst>
          </p:cNvPr>
          <p:cNvSpPr>
            <a:spLocks noGrp="1"/>
          </p:cNvSpPr>
          <p:nvPr>
            <p:ph type="sldNum" sz="quarter" idx="12"/>
          </p:nvPr>
        </p:nvSpPr>
        <p:spPr/>
        <p:txBody>
          <a:bodyPr/>
          <a:lstStyle/>
          <a:p>
            <a:fld id="{7B28076C-CE04-4A00-BFAA-A90EA8355859}" type="slidenum">
              <a:rPr lang="en-US" smtClean="0"/>
              <a:pPr/>
              <a:t>4</a:t>
            </a:fld>
            <a:endParaRPr lang="en-US" dirty="0"/>
          </a:p>
        </p:txBody>
      </p:sp>
      <p:sp>
        <p:nvSpPr>
          <p:cNvPr id="4" name="Content Placeholder 3">
            <a:extLst>
              <a:ext uri="{FF2B5EF4-FFF2-40B4-BE49-F238E27FC236}">
                <a16:creationId xmlns:a16="http://schemas.microsoft.com/office/drawing/2014/main" id="{88D06A02-C8E4-A0ED-C552-68C6864B1FFB}"/>
              </a:ext>
            </a:extLst>
          </p:cNvPr>
          <p:cNvSpPr>
            <a:spLocks noGrp="1"/>
          </p:cNvSpPr>
          <p:nvPr>
            <p:ph idx="1"/>
          </p:nvPr>
        </p:nvSpPr>
        <p:spPr/>
        <p:txBody>
          <a:bodyPr>
            <a:normAutofit/>
          </a:bodyPr>
          <a:lstStyle/>
          <a:p>
            <a:pPr marL="0" indent="0">
              <a:buNone/>
            </a:pPr>
            <a:r>
              <a:rPr lang="en-US" sz="2500" dirty="0"/>
              <a:t>Plant diseases significantly affect crop productivity and can lead to substantial agricultural looses when not detected at an early stage. This project proposes an AI-based Computer Vision System to detect and classify plant diseases from leaf or crop images using </a:t>
            </a:r>
            <a:r>
              <a:rPr lang="en-US" sz="2500" b="1" dirty="0"/>
              <a:t>Deep Learning </a:t>
            </a:r>
            <a:r>
              <a:rPr lang="en-US" sz="2500" dirty="0"/>
              <a:t>and </a:t>
            </a:r>
            <a:r>
              <a:rPr lang="en-US" sz="2500" b="1" dirty="0"/>
              <a:t>Image Processing.</a:t>
            </a:r>
            <a:r>
              <a:rPr lang="en-US" sz="2500" dirty="0"/>
              <a:t> The system identifies disease-specific patterns and provides rapid, automated diagnosis. The proposed solution aims to support early disease detection, reduce crop losses, and improve agricultural productivity through smart farming technology by helping farmers monitor crop health, reduce potential losses and improve overall agricultural productivity.</a:t>
            </a:r>
          </a:p>
        </p:txBody>
      </p:sp>
    </p:spTree>
    <p:extLst>
      <p:ext uri="{BB962C8B-B14F-4D97-AF65-F5344CB8AC3E}">
        <p14:creationId xmlns:p14="http://schemas.microsoft.com/office/powerpoint/2010/main" val="959492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26107-1872-505C-110F-632B972E0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813803-9C2B-4765-6CF6-32EE10C8E04C}"/>
              </a:ext>
            </a:extLst>
          </p:cNvPr>
          <p:cNvSpPr>
            <a:spLocks noGrp="1"/>
          </p:cNvSpPr>
          <p:nvPr>
            <p:ph type="title"/>
          </p:nvPr>
        </p:nvSpPr>
        <p:spPr/>
        <p:txBody>
          <a:bodyPr>
            <a:normAutofit/>
          </a:bodyPr>
          <a:lstStyle/>
          <a:p>
            <a:r>
              <a:rPr lang="en-US" sz="3600" dirty="0"/>
              <a:t>INTRODUCTION</a:t>
            </a:r>
          </a:p>
        </p:txBody>
      </p:sp>
      <p:sp>
        <p:nvSpPr>
          <p:cNvPr id="5" name="Footer Placeholder 4">
            <a:extLst>
              <a:ext uri="{FF2B5EF4-FFF2-40B4-BE49-F238E27FC236}">
                <a16:creationId xmlns:a16="http://schemas.microsoft.com/office/drawing/2014/main" id="{652413FC-6DD6-7424-6C42-FFC0237292C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94D365-CC5D-1944-9718-7917DCAFB72E}"/>
              </a:ext>
            </a:extLst>
          </p:cNvPr>
          <p:cNvSpPr>
            <a:spLocks noGrp="1"/>
          </p:cNvSpPr>
          <p:nvPr>
            <p:ph type="sldNum" sz="quarter" idx="12"/>
          </p:nvPr>
        </p:nvSpPr>
        <p:spPr/>
        <p:txBody>
          <a:bodyPr/>
          <a:lstStyle/>
          <a:p>
            <a:fld id="{7B28076C-CE04-4A00-BFAA-A90EA8355859}" type="slidenum">
              <a:rPr lang="en-US" smtClean="0"/>
              <a:pPr/>
              <a:t>5</a:t>
            </a:fld>
            <a:endParaRPr lang="en-US" dirty="0"/>
          </a:p>
        </p:txBody>
      </p:sp>
      <p:sp>
        <p:nvSpPr>
          <p:cNvPr id="4" name="Content Placeholder 3">
            <a:extLst>
              <a:ext uri="{FF2B5EF4-FFF2-40B4-BE49-F238E27FC236}">
                <a16:creationId xmlns:a16="http://schemas.microsoft.com/office/drawing/2014/main" id="{025EF12F-DE6B-6899-6AA0-D5D46BFE8AAB}"/>
              </a:ext>
            </a:extLst>
          </p:cNvPr>
          <p:cNvSpPr>
            <a:spLocks noGrp="1"/>
          </p:cNvSpPr>
          <p:nvPr>
            <p:ph idx="1"/>
          </p:nvPr>
        </p:nvSpPr>
        <p:spPr/>
        <p:txBody>
          <a:bodyPr>
            <a:normAutofit/>
          </a:bodyPr>
          <a:lstStyle/>
          <a:p>
            <a:pPr marL="0" indent="0">
              <a:buNone/>
            </a:pPr>
            <a:r>
              <a:rPr lang="en-US" sz="2500" dirty="0"/>
              <a:t>Plant diseases are a major challenge in agriculture affecting crop quality, productivity and food security. Early identification is essential to prevent diseases from spreading and reduce potential losses. Traditional disease detection mainly depends on manual inspection and expert knowledge which is time consuming and major threat for unexperienced farmers. This project aims to develop a </a:t>
            </a:r>
            <a:r>
              <a:rPr lang="en-US" sz="2500" b="1" dirty="0"/>
              <a:t>Deep Learning - Based Computer Vision Model</a:t>
            </a:r>
            <a:r>
              <a:rPr lang="en-US" sz="2500" dirty="0"/>
              <a:t> that identifies and classifies plant disease based on visual symptoms. The proposed system can support early disease detection, timely intervention, reduce major losses, and improved agricultural productivity.</a:t>
            </a:r>
          </a:p>
        </p:txBody>
      </p:sp>
    </p:spTree>
    <p:extLst>
      <p:ext uri="{BB962C8B-B14F-4D97-AF65-F5344CB8AC3E}">
        <p14:creationId xmlns:p14="http://schemas.microsoft.com/office/powerpoint/2010/main" val="191063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214F5-5581-5382-E373-F5425EC30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19DCB-E8D7-1B1B-0AC0-9E215E3B2A1B}"/>
              </a:ext>
            </a:extLst>
          </p:cNvPr>
          <p:cNvSpPr>
            <a:spLocks noGrp="1"/>
          </p:cNvSpPr>
          <p:nvPr>
            <p:ph type="title"/>
          </p:nvPr>
        </p:nvSpPr>
        <p:spPr/>
        <p:txBody>
          <a:bodyPr>
            <a:normAutofit/>
          </a:bodyPr>
          <a:lstStyle/>
          <a:p>
            <a:r>
              <a:rPr lang="en-US" sz="3600" dirty="0"/>
              <a:t>OBJECTIVES</a:t>
            </a:r>
          </a:p>
        </p:txBody>
      </p:sp>
      <p:sp>
        <p:nvSpPr>
          <p:cNvPr id="5" name="Footer Placeholder 4">
            <a:extLst>
              <a:ext uri="{FF2B5EF4-FFF2-40B4-BE49-F238E27FC236}">
                <a16:creationId xmlns:a16="http://schemas.microsoft.com/office/drawing/2014/main" id="{AC112B1B-265E-F568-5439-3A7FBA8F948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6A7AA0B-9E12-CABB-2E1C-A6E585918D25}"/>
              </a:ext>
            </a:extLst>
          </p:cNvPr>
          <p:cNvSpPr>
            <a:spLocks noGrp="1"/>
          </p:cNvSpPr>
          <p:nvPr>
            <p:ph type="sldNum" sz="quarter" idx="12"/>
          </p:nvPr>
        </p:nvSpPr>
        <p:spPr/>
        <p:txBody>
          <a:bodyPr/>
          <a:lstStyle/>
          <a:p>
            <a:fld id="{7B28076C-CE04-4A00-BFAA-A90EA8355859}" type="slidenum">
              <a:rPr lang="en-US" smtClean="0"/>
              <a:pPr/>
              <a:t>6</a:t>
            </a:fld>
            <a:endParaRPr lang="en-US" dirty="0"/>
          </a:p>
        </p:txBody>
      </p:sp>
      <p:sp>
        <p:nvSpPr>
          <p:cNvPr id="4" name="Content Placeholder 3">
            <a:extLst>
              <a:ext uri="{FF2B5EF4-FFF2-40B4-BE49-F238E27FC236}">
                <a16:creationId xmlns:a16="http://schemas.microsoft.com/office/drawing/2014/main" id="{38A960C5-3386-7587-B05D-065DAA155712}"/>
              </a:ext>
            </a:extLst>
          </p:cNvPr>
          <p:cNvSpPr>
            <a:spLocks noGrp="1"/>
          </p:cNvSpPr>
          <p:nvPr>
            <p:ph idx="1"/>
          </p:nvPr>
        </p:nvSpPr>
        <p:spPr/>
        <p:txBody>
          <a:bodyPr>
            <a:normAutofit lnSpcReduction="10000"/>
          </a:bodyPr>
          <a:lstStyle/>
          <a:p>
            <a:r>
              <a:rPr lang="en-US" sz="2800" dirty="0"/>
              <a:t>Develop an Automated Computer Vision system for detecting plant diseases.</a:t>
            </a:r>
          </a:p>
          <a:p>
            <a:r>
              <a:rPr lang="en-US" sz="2800" dirty="0"/>
              <a:t>Extract and learn disease-specific visual features such as spots, discoloration, lesions and texture changes.</a:t>
            </a:r>
          </a:p>
          <a:p>
            <a:r>
              <a:rPr lang="en-US" sz="2800" dirty="0"/>
              <a:t>Classify healthy and diseased plants accurately into their respective disease categories.</a:t>
            </a:r>
          </a:p>
          <a:p>
            <a:r>
              <a:rPr lang="en-US" sz="2800" dirty="0"/>
              <a:t>Improve the reliability and generalization of the model.</a:t>
            </a:r>
          </a:p>
          <a:p>
            <a:r>
              <a:rPr lang="en-US" sz="2800" dirty="0"/>
              <a:t>Enable early and efficient disease identification to timely treatment and reduce crop losses.</a:t>
            </a:r>
          </a:p>
          <a:p>
            <a:endParaRPr lang="en-US" sz="3000" dirty="0"/>
          </a:p>
        </p:txBody>
      </p:sp>
    </p:spTree>
    <p:extLst>
      <p:ext uri="{BB962C8B-B14F-4D97-AF65-F5344CB8AC3E}">
        <p14:creationId xmlns:p14="http://schemas.microsoft.com/office/powerpoint/2010/main" val="2879093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C2948-7E27-74A7-56A6-600EE3177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C0D11-0176-1278-8A62-D16FD56E9CB1}"/>
              </a:ext>
            </a:extLst>
          </p:cNvPr>
          <p:cNvSpPr>
            <a:spLocks noGrp="1"/>
          </p:cNvSpPr>
          <p:nvPr>
            <p:ph type="title"/>
          </p:nvPr>
        </p:nvSpPr>
        <p:spPr/>
        <p:txBody>
          <a:bodyPr>
            <a:normAutofit/>
          </a:bodyPr>
          <a:lstStyle/>
          <a:p>
            <a:r>
              <a:rPr lang="en-US" sz="3600" dirty="0"/>
              <a:t>SYSTEM ARCHITECTURE</a:t>
            </a:r>
          </a:p>
        </p:txBody>
      </p:sp>
      <p:sp>
        <p:nvSpPr>
          <p:cNvPr id="5" name="Footer Placeholder 4">
            <a:extLst>
              <a:ext uri="{FF2B5EF4-FFF2-40B4-BE49-F238E27FC236}">
                <a16:creationId xmlns:a16="http://schemas.microsoft.com/office/drawing/2014/main" id="{D021AFF0-1CAC-96B9-BE2C-9EB9D862C39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8AB9B2F-6A9E-27C6-0DCB-1DA1B80B7F75}"/>
              </a:ext>
            </a:extLst>
          </p:cNvPr>
          <p:cNvSpPr>
            <a:spLocks noGrp="1"/>
          </p:cNvSpPr>
          <p:nvPr>
            <p:ph type="sldNum" sz="quarter" idx="12"/>
          </p:nvPr>
        </p:nvSpPr>
        <p:spPr/>
        <p:txBody>
          <a:bodyPr/>
          <a:lstStyle/>
          <a:p>
            <a:fld id="{7B28076C-CE04-4A00-BFAA-A90EA8355859}" type="slidenum">
              <a:rPr lang="en-US" smtClean="0"/>
              <a:pPr/>
              <a:t>7</a:t>
            </a:fld>
            <a:endParaRPr lang="en-US" dirty="0"/>
          </a:p>
        </p:txBody>
      </p:sp>
      <p:pic>
        <p:nvPicPr>
          <p:cNvPr id="8" name="Content Placeholder 7">
            <a:extLst>
              <a:ext uri="{FF2B5EF4-FFF2-40B4-BE49-F238E27FC236}">
                <a16:creationId xmlns:a16="http://schemas.microsoft.com/office/drawing/2014/main" id="{2B987D4A-75A0-1043-F097-CB1EA0D5F7A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15460" y="1371600"/>
            <a:ext cx="7913080" cy="5181600"/>
          </a:xfrm>
          <a:prstGeom prst="rect">
            <a:avLst/>
          </a:prstGeom>
        </p:spPr>
      </p:pic>
    </p:spTree>
    <p:extLst>
      <p:ext uri="{BB962C8B-B14F-4D97-AF65-F5344CB8AC3E}">
        <p14:creationId xmlns:p14="http://schemas.microsoft.com/office/powerpoint/2010/main" val="2173184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AE3E5-31AB-F430-B982-A65B4A557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3955E-DDE5-B8DF-EB13-3E492ED77D56}"/>
              </a:ext>
            </a:extLst>
          </p:cNvPr>
          <p:cNvSpPr>
            <a:spLocks noGrp="1"/>
          </p:cNvSpPr>
          <p:nvPr>
            <p:ph type="title"/>
          </p:nvPr>
        </p:nvSpPr>
        <p:spPr/>
        <p:txBody>
          <a:bodyPr>
            <a:normAutofit/>
          </a:bodyPr>
          <a:lstStyle/>
          <a:p>
            <a:r>
              <a:rPr lang="en-US" sz="3600" dirty="0"/>
              <a:t>MODULE IMPLEMENTATION</a:t>
            </a:r>
          </a:p>
        </p:txBody>
      </p:sp>
      <p:sp>
        <p:nvSpPr>
          <p:cNvPr id="5" name="Footer Placeholder 4">
            <a:extLst>
              <a:ext uri="{FF2B5EF4-FFF2-40B4-BE49-F238E27FC236}">
                <a16:creationId xmlns:a16="http://schemas.microsoft.com/office/drawing/2014/main" id="{1B36A54F-81F2-9F62-D49D-CE271C359FB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4843F41-F2A7-983D-12B0-2095D367847F}"/>
              </a:ext>
            </a:extLst>
          </p:cNvPr>
          <p:cNvSpPr>
            <a:spLocks noGrp="1"/>
          </p:cNvSpPr>
          <p:nvPr>
            <p:ph type="sldNum" sz="quarter" idx="12"/>
          </p:nvPr>
        </p:nvSpPr>
        <p:spPr/>
        <p:txBody>
          <a:bodyPr/>
          <a:lstStyle/>
          <a:p>
            <a:fld id="{7B28076C-CE04-4A00-BFAA-A90EA8355859}" type="slidenum">
              <a:rPr lang="en-US" smtClean="0"/>
              <a:pPr/>
              <a:t>8</a:t>
            </a:fld>
            <a:endParaRPr lang="en-US" dirty="0"/>
          </a:p>
        </p:txBody>
      </p:sp>
      <p:sp>
        <p:nvSpPr>
          <p:cNvPr id="4" name="Content Placeholder 3">
            <a:extLst>
              <a:ext uri="{FF2B5EF4-FFF2-40B4-BE49-F238E27FC236}">
                <a16:creationId xmlns:a16="http://schemas.microsoft.com/office/drawing/2014/main" id="{8A6004F6-F9E2-3317-80F2-FAB9F94FC67E}"/>
              </a:ext>
            </a:extLst>
          </p:cNvPr>
          <p:cNvSpPr>
            <a:spLocks noGrp="1"/>
          </p:cNvSpPr>
          <p:nvPr>
            <p:ph idx="1"/>
          </p:nvPr>
        </p:nvSpPr>
        <p:spPr>
          <a:xfrm>
            <a:off x="457200" y="1600200"/>
            <a:ext cx="8229600" cy="4756150"/>
          </a:xfrm>
        </p:spPr>
        <p:txBody>
          <a:bodyPr>
            <a:normAutofit/>
          </a:bodyPr>
          <a:lstStyle/>
          <a:p>
            <a:pPr marL="0" indent="0">
              <a:buNone/>
            </a:pPr>
            <a:r>
              <a:rPr lang="en-US" sz="3000" b="1" dirty="0"/>
              <a:t>M1: </a:t>
            </a:r>
            <a:r>
              <a:rPr lang="en-US" sz="3000" dirty="0"/>
              <a:t>The User Uploads Crop/Plant Image.</a:t>
            </a:r>
          </a:p>
          <a:p>
            <a:pPr marL="0" indent="0">
              <a:buNone/>
            </a:pPr>
            <a:r>
              <a:rPr lang="en-US" sz="3000" b="1" dirty="0"/>
              <a:t>M2: </a:t>
            </a:r>
            <a:r>
              <a:rPr lang="en-US" sz="3000" dirty="0"/>
              <a:t>The Image is Resized, Normalized and Ready for Identification.</a:t>
            </a:r>
          </a:p>
          <a:p>
            <a:pPr marL="0" indent="0">
              <a:buNone/>
            </a:pPr>
            <a:r>
              <a:rPr lang="en-US" sz="3000" b="1" dirty="0"/>
              <a:t>M3: </a:t>
            </a:r>
            <a:r>
              <a:rPr lang="en-US" sz="3000" dirty="0"/>
              <a:t>Using CNN, The Model Classifies Whether Crop/Plant has been Affected or Not.</a:t>
            </a:r>
          </a:p>
          <a:p>
            <a:pPr marL="0" indent="0">
              <a:buNone/>
            </a:pPr>
            <a:r>
              <a:rPr lang="en-US" sz="3000" b="1" dirty="0"/>
              <a:t>M4: </a:t>
            </a:r>
            <a:r>
              <a:rPr lang="en-US" sz="3000" dirty="0"/>
              <a:t>Display of Prediction Output and Confidence Score.</a:t>
            </a:r>
          </a:p>
          <a:p>
            <a:pPr marL="0" indent="0">
              <a:buNone/>
            </a:pPr>
            <a:r>
              <a:rPr lang="en-US" sz="3000" b="1" dirty="0"/>
              <a:t>M5: </a:t>
            </a:r>
            <a:r>
              <a:rPr lang="en-US" sz="3000" dirty="0"/>
              <a:t>If Disease has been Identified, Display Disease Information.</a:t>
            </a:r>
          </a:p>
        </p:txBody>
      </p:sp>
    </p:spTree>
    <p:extLst>
      <p:ext uri="{BB962C8B-B14F-4D97-AF65-F5344CB8AC3E}">
        <p14:creationId xmlns:p14="http://schemas.microsoft.com/office/powerpoint/2010/main" val="323214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D9D24-1FBD-EB0E-E702-E7A4558133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68EB4-A0FD-0997-7EDC-EBED1996CC6A}"/>
              </a:ext>
            </a:extLst>
          </p:cNvPr>
          <p:cNvSpPr>
            <a:spLocks noGrp="1"/>
          </p:cNvSpPr>
          <p:nvPr>
            <p:ph type="title"/>
          </p:nvPr>
        </p:nvSpPr>
        <p:spPr/>
        <p:txBody>
          <a:bodyPr>
            <a:normAutofit/>
          </a:bodyPr>
          <a:lstStyle/>
          <a:p>
            <a:r>
              <a:rPr lang="en-US" sz="3600" dirty="0"/>
              <a:t>RESULTS AND DISCUSSIONS</a:t>
            </a:r>
          </a:p>
        </p:txBody>
      </p:sp>
      <p:sp>
        <p:nvSpPr>
          <p:cNvPr id="5" name="Footer Placeholder 4">
            <a:extLst>
              <a:ext uri="{FF2B5EF4-FFF2-40B4-BE49-F238E27FC236}">
                <a16:creationId xmlns:a16="http://schemas.microsoft.com/office/drawing/2014/main" id="{D0EF22B0-D1B8-AAB1-B3BC-151C80C8F50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2455142-AA06-0182-8D96-F1A5C0CF10EB}"/>
              </a:ext>
            </a:extLst>
          </p:cNvPr>
          <p:cNvSpPr>
            <a:spLocks noGrp="1"/>
          </p:cNvSpPr>
          <p:nvPr>
            <p:ph type="sldNum" sz="quarter" idx="12"/>
          </p:nvPr>
        </p:nvSpPr>
        <p:spPr/>
        <p:txBody>
          <a:bodyPr/>
          <a:lstStyle/>
          <a:p>
            <a:fld id="{7B28076C-CE04-4A00-BFAA-A90EA8355859}" type="slidenum">
              <a:rPr lang="en-US" smtClean="0"/>
              <a:pPr/>
              <a:t>9</a:t>
            </a:fld>
            <a:endParaRPr lang="en-US" dirty="0"/>
          </a:p>
        </p:txBody>
      </p:sp>
      <p:sp>
        <p:nvSpPr>
          <p:cNvPr id="4" name="Content Placeholder 3">
            <a:extLst>
              <a:ext uri="{FF2B5EF4-FFF2-40B4-BE49-F238E27FC236}">
                <a16:creationId xmlns:a16="http://schemas.microsoft.com/office/drawing/2014/main" id="{2D15495B-7199-2E99-3119-FE3625196DC9}"/>
              </a:ext>
            </a:extLst>
          </p:cNvPr>
          <p:cNvSpPr>
            <a:spLocks noGrp="1"/>
          </p:cNvSpPr>
          <p:nvPr>
            <p:ph idx="1"/>
          </p:nvPr>
        </p:nvSpPr>
        <p:spPr>
          <a:xfrm>
            <a:off x="609600" y="1524000"/>
            <a:ext cx="8229600" cy="4525963"/>
          </a:xfrm>
        </p:spPr>
        <p:txBody>
          <a:bodyPr>
            <a:noAutofit/>
          </a:bodyPr>
          <a:lstStyle/>
          <a:p>
            <a:pPr marL="0" indent="0">
              <a:buNone/>
            </a:pPr>
            <a:r>
              <a:rPr lang="en-IN" sz="2800" dirty="0"/>
              <a:t>The developed system successfully analyses uploaded plant leaf images and identifies whether the plant is healthy or affected by a particular disease. The CNN model detects important visual features such as leaf spots, colour changes, lesions, and texture to classify diseases accurately. The system displays the predicted disease along with a confidence score and disease information making the result easy to understand. Overall, the project demonstrates the effectiveness of deep learning and image classification for automated plant disease detection.</a:t>
            </a:r>
          </a:p>
        </p:txBody>
      </p:sp>
    </p:spTree>
    <p:extLst>
      <p:ext uri="{BB962C8B-B14F-4D97-AF65-F5344CB8AC3E}">
        <p14:creationId xmlns:p14="http://schemas.microsoft.com/office/powerpoint/2010/main" val="1993977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0D0A1-98DC-87D8-ABB2-B3F0D64378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DFCFD-9082-921A-AFEB-205D66953B67}"/>
              </a:ext>
            </a:extLst>
          </p:cNvPr>
          <p:cNvSpPr>
            <a:spLocks noGrp="1"/>
          </p:cNvSpPr>
          <p:nvPr>
            <p:ph type="title"/>
          </p:nvPr>
        </p:nvSpPr>
        <p:spPr/>
        <p:txBody>
          <a:bodyPr>
            <a:normAutofit/>
          </a:bodyPr>
          <a:lstStyle/>
          <a:p>
            <a:r>
              <a:rPr lang="en-US" sz="3600" dirty="0"/>
              <a:t>CONCLUSION</a:t>
            </a:r>
          </a:p>
        </p:txBody>
      </p:sp>
      <p:sp>
        <p:nvSpPr>
          <p:cNvPr id="5" name="Footer Placeholder 4">
            <a:extLst>
              <a:ext uri="{FF2B5EF4-FFF2-40B4-BE49-F238E27FC236}">
                <a16:creationId xmlns:a16="http://schemas.microsoft.com/office/drawing/2014/main" id="{D5AFFFC8-14C3-32C7-6287-4F4ADFC7D5B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C6D295B-AF32-75F7-B93C-0D848F141F92}"/>
              </a:ext>
            </a:extLst>
          </p:cNvPr>
          <p:cNvSpPr>
            <a:spLocks noGrp="1"/>
          </p:cNvSpPr>
          <p:nvPr>
            <p:ph type="sldNum" sz="quarter" idx="12"/>
          </p:nvPr>
        </p:nvSpPr>
        <p:spPr/>
        <p:txBody>
          <a:bodyPr/>
          <a:lstStyle/>
          <a:p>
            <a:fld id="{7B28076C-CE04-4A00-BFAA-A90EA8355859}" type="slidenum">
              <a:rPr lang="en-US" smtClean="0"/>
              <a:pPr/>
              <a:t>10</a:t>
            </a:fld>
            <a:endParaRPr lang="en-US" dirty="0"/>
          </a:p>
        </p:txBody>
      </p:sp>
      <p:sp>
        <p:nvSpPr>
          <p:cNvPr id="4" name="Content Placeholder 3">
            <a:extLst>
              <a:ext uri="{FF2B5EF4-FFF2-40B4-BE49-F238E27FC236}">
                <a16:creationId xmlns:a16="http://schemas.microsoft.com/office/drawing/2014/main" id="{104BDAB5-032B-4E36-11E4-2A4AF6F35368}"/>
              </a:ext>
            </a:extLst>
          </p:cNvPr>
          <p:cNvSpPr>
            <a:spLocks noGrp="1"/>
          </p:cNvSpPr>
          <p:nvPr>
            <p:ph idx="1"/>
          </p:nvPr>
        </p:nvSpPr>
        <p:spPr/>
        <p:txBody>
          <a:bodyPr>
            <a:normAutofit/>
          </a:bodyPr>
          <a:lstStyle/>
          <a:p>
            <a:pPr marL="0" indent="0">
              <a:buNone/>
            </a:pPr>
            <a:r>
              <a:rPr lang="en-IN" sz="2800" dirty="0"/>
              <a:t>The Plant Disease Detection System provides an effective approach for identifying plant diseases from leaf images using </a:t>
            </a:r>
            <a:r>
              <a:rPr lang="en-IN" sz="2800" b="1" dirty="0"/>
              <a:t>Deep Learning and Image Classification Techniques</a:t>
            </a:r>
            <a:r>
              <a:rPr lang="en-IN" sz="2800" dirty="0"/>
              <a:t>. The Convolution Neural Network (CNN) Model analyses the visual characteristics of plant leaves and predicts whether the plant is healthy or affected by a specific disease and display disease information. Overall, the project demonstrates the practical application of </a:t>
            </a:r>
            <a:r>
              <a:rPr lang="en-IN" sz="2800" b="1" dirty="0"/>
              <a:t>Computer Vision and Artificial Intelligence in Agriculture.</a:t>
            </a:r>
            <a:endParaRPr lang="en-IN" sz="2800" dirty="0"/>
          </a:p>
          <a:p>
            <a:pPr marL="0" indent="0">
              <a:buNone/>
            </a:pPr>
            <a:endParaRPr lang="en-US" sz="2500" dirty="0"/>
          </a:p>
        </p:txBody>
      </p:sp>
    </p:spTree>
    <p:extLst>
      <p:ext uri="{BB962C8B-B14F-4D97-AF65-F5344CB8AC3E}">
        <p14:creationId xmlns:p14="http://schemas.microsoft.com/office/powerpoint/2010/main" val="1626060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FA3D9-5B38-A267-7691-582DAE68AEB0}"/>
              </a:ext>
            </a:extLst>
          </p:cNvPr>
          <p:cNvSpPr>
            <a:spLocks noGrp="1"/>
          </p:cNvSpPr>
          <p:nvPr>
            <p:ph type="title"/>
          </p:nvPr>
        </p:nvSpPr>
        <p:spPr/>
        <p:txBody>
          <a:bodyPr>
            <a:normAutofit/>
          </a:bodyPr>
          <a:lstStyle/>
          <a:p>
            <a:r>
              <a:rPr lang="en-IN" sz="3600" dirty="0"/>
              <a:t>REFERENCES</a:t>
            </a:r>
          </a:p>
        </p:txBody>
      </p:sp>
      <p:sp>
        <p:nvSpPr>
          <p:cNvPr id="3" name="Content Placeholder 2">
            <a:extLst>
              <a:ext uri="{FF2B5EF4-FFF2-40B4-BE49-F238E27FC236}">
                <a16:creationId xmlns:a16="http://schemas.microsoft.com/office/drawing/2014/main" id="{9BC309EE-F211-8F10-9087-6FE7260000F2}"/>
              </a:ext>
            </a:extLst>
          </p:cNvPr>
          <p:cNvSpPr>
            <a:spLocks noGrp="1"/>
          </p:cNvSpPr>
          <p:nvPr>
            <p:ph idx="1"/>
          </p:nvPr>
        </p:nvSpPr>
        <p:spPr>
          <a:xfrm>
            <a:off x="457200" y="1371600"/>
            <a:ext cx="8229600" cy="5105400"/>
          </a:xfrm>
        </p:spPr>
        <p:txBody>
          <a:bodyPr>
            <a:noAutofit/>
          </a:bodyPr>
          <a:lstStyle/>
          <a:p>
            <a:pPr marL="0" lvl="0" indent="0">
              <a:buNone/>
            </a:pPr>
            <a:r>
              <a:rPr lang="en-IN" sz="2300" dirty="0"/>
              <a:t>[1]. Mohanty, S. P., Hughes, D. P., &amp; </a:t>
            </a:r>
            <a:r>
              <a:rPr lang="en-IN" sz="2300" dirty="0" err="1"/>
              <a:t>Salathé</a:t>
            </a:r>
            <a:r>
              <a:rPr lang="en-IN" sz="2300" dirty="0"/>
              <a:t>, M. (2016). </a:t>
            </a:r>
            <a:r>
              <a:rPr lang="en-IN" sz="2300" b="1" dirty="0"/>
              <a:t>Using Deep Learning [for Image-Based Plant Disease Detection</a:t>
            </a:r>
            <a:r>
              <a:rPr lang="en-IN" sz="2300" dirty="0"/>
              <a:t>. </a:t>
            </a:r>
            <a:r>
              <a:rPr lang="en-IN" sz="2300" i="1" dirty="0"/>
              <a:t>Frontiers in Plant Science</a:t>
            </a:r>
            <a:r>
              <a:rPr lang="en-IN" sz="2300" dirty="0"/>
              <a:t>, 7, 1419.</a:t>
            </a:r>
          </a:p>
          <a:p>
            <a:pPr marL="0" lvl="0" indent="0">
              <a:buNone/>
            </a:pPr>
            <a:r>
              <a:rPr lang="en-IN" sz="2300" dirty="0"/>
              <a:t>[2]. Hughes, D. P., &amp; </a:t>
            </a:r>
            <a:r>
              <a:rPr lang="en-IN" sz="2300" dirty="0" err="1"/>
              <a:t>Salathé</a:t>
            </a:r>
            <a:r>
              <a:rPr lang="en-IN" sz="2300" dirty="0"/>
              <a:t>, M. (2015). </a:t>
            </a:r>
            <a:r>
              <a:rPr lang="en-IN" sz="2300" b="1" dirty="0"/>
              <a:t>An Open Access Repository of Images on Plant Health to Enable the Development of Mobile Disease Diagnostics</a:t>
            </a:r>
            <a:r>
              <a:rPr lang="en-IN" sz="2300" dirty="0"/>
              <a:t>. </a:t>
            </a:r>
            <a:r>
              <a:rPr lang="en-IN" sz="2300" i="1" dirty="0" err="1"/>
              <a:t>arXiv</a:t>
            </a:r>
            <a:r>
              <a:rPr lang="en-IN" sz="2300" i="1" dirty="0"/>
              <a:t> preprint arXiv:1511.08060</a:t>
            </a:r>
            <a:r>
              <a:rPr lang="en-IN" sz="2300" dirty="0"/>
              <a:t>.</a:t>
            </a:r>
          </a:p>
          <a:p>
            <a:pPr marL="0" lvl="0" indent="0">
              <a:buNone/>
            </a:pPr>
            <a:r>
              <a:rPr lang="en-IN" sz="2300" dirty="0"/>
              <a:t>[3]. Ferentinos, K. P. (2018). </a:t>
            </a:r>
            <a:r>
              <a:rPr lang="en-IN" sz="2300" b="1" dirty="0"/>
              <a:t>Deep Learning Models for Plant Disease Detection and Diagnosis</a:t>
            </a:r>
            <a:r>
              <a:rPr lang="en-IN" sz="2300" dirty="0"/>
              <a:t>. </a:t>
            </a:r>
            <a:r>
              <a:rPr lang="en-IN" sz="2300" i="1" dirty="0"/>
              <a:t>Computers and Electronics in Agriculture</a:t>
            </a:r>
            <a:r>
              <a:rPr lang="en-IN" sz="2300" dirty="0"/>
              <a:t>, 145, 311–318.</a:t>
            </a:r>
          </a:p>
          <a:p>
            <a:pPr marL="0" lvl="0" indent="0">
              <a:buNone/>
            </a:pPr>
            <a:r>
              <a:rPr lang="en-IN" sz="2300" dirty="0"/>
              <a:t>[4]. Too, E. C., Yujian, L., Njuki, S., &amp; </a:t>
            </a:r>
            <a:r>
              <a:rPr lang="en-IN" sz="2300" dirty="0" err="1"/>
              <a:t>Yingchun</a:t>
            </a:r>
            <a:r>
              <a:rPr lang="en-IN" sz="2300" dirty="0"/>
              <a:t>, L. (2019). </a:t>
            </a:r>
            <a:r>
              <a:rPr lang="en-IN" sz="2300" b="1" dirty="0"/>
              <a:t>A Comparative Study of Fine-Tuning Deep Learning Models for Plant Disease Identification</a:t>
            </a:r>
            <a:r>
              <a:rPr lang="en-IN" sz="2300" dirty="0"/>
              <a:t>. </a:t>
            </a:r>
            <a:r>
              <a:rPr lang="en-IN" sz="2300" i="1" dirty="0"/>
              <a:t>Computers and Electronics in Agriculture</a:t>
            </a:r>
            <a:r>
              <a:rPr lang="en-IN" sz="2300" dirty="0"/>
              <a:t>, 161, 272–279.</a:t>
            </a:r>
          </a:p>
          <a:p>
            <a:pPr marL="0" lvl="0" indent="0" algn="just">
              <a:buNone/>
            </a:pPr>
            <a:endParaRPr lang="en-US" sz="20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2B427FE9-29DA-0E49-B4DE-4727923C5DB0}"/>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B2B0431B-9CC5-946D-2E4D-E25A5A48B915}"/>
              </a:ext>
            </a:extLst>
          </p:cNvPr>
          <p:cNvSpPr>
            <a:spLocks noGrp="1"/>
          </p:cNvSpPr>
          <p:nvPr>
            <p:ph type="sldNum" sz="quarter" idx="12"/>
          </p:nvPr>
        </p:nvSpPr>
        <p:spPr/>
        <p:txBody>
          <a:bodyPr/>
          <a:lstStyle/>
          <a:p>
            <a:fld id="{7B28076C-CE04-4A00-BFAA-A90EA8355859}" type="slidenum">
              <a:rPr lang="en-US" smtClean="0"/>
              <a:pPr/>
              <a:t>11</a:t>
            </a:fld>
            <a:endParaRPr lang="en-US"/>
          </a:p>
        </p:txBody>
      </p:sp>
    </p:spTree>
    <p:extLst>
      <p:ext uri="{BB962C8B-B14F-4D97-AF65-F5344CB8AC3E}">
        <p14:creationId xmlns:p14="http://schemas.microsoft.com/office/powerpoint/2010/main" val="3811643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17 September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12</a:t>
            </a:fld>
            <a:endParaRPr lang="en-US"/>
          </a:p>
        </p:txBody>
      </p:sp>
      <p:sp>
        <p:nvSpPr>
          <p:cNvPr id="6" name="Rectangle 5"/>
          <p:cNvSpPr/>
          <p:nvPr/>
        </p:nvSpPr>
        <p:spPr>
          <a:xfrm>
            <a:off x="609600" y="2690336"/>
            <a:ext cx="7918940" cy="1384995"/>
          </a:xfrm>
          <a:prstGeom prst="rect">
            <a:avLst/>
          </a:prstGeom>
        </p:spPr>
        <p:txBody>
          <a:bodyPr wrap="square">
            <a:spAutoFit/>
          </a:bodyPr>
          <a:lstStyle/>
          <a:p>
            <a:pPr algn="just"/>
            <a:r>
              <a:rPr lang="en-IN" sz="2800" dirty="0"/>
              <a:t>We thank God, Our Department, Guide, Panel Members, Supportive Professors and all Technical and non Technical staff who helped us in our Project.</a:t>
            </a:r>
          </a:p>
        </p:txBody>
      </p:sp>
    </p:spTree>
    <p:extLst>
      <p:ext uri="{BB962C8B-B14F-4D97-AF65-F5344CB8AC3E}">
        <p14:creationId xmlns:p14="http://schemas.microsoft.com/office/powerpoint/2010/main" val="111132939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6374</TotalTime>
  <Words>774</Words>
  <Application>Microsoft Office PowerPoint</Application>
  <PresentationFormat>On-screen Show (4:3)</PresentationFormat>
  <Paragraphs>68</Paragraphs>
  <Slides>12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Custom Design</vt:lpstr>
      <vt:lpstr>  </vt:lpstr>
      <vt:lpstr>AGENDA</vt:lpstr>
      <vt:lpstr>COURSE CERTIFICATE</vt:lpstr>
      <vt:lpstr>ABSTRACT</vt:lpstr>
      <vt:lpstr>INTRODUCTION</vt:lpstr>
      <vt:lpstr>OBJECTIVES</vt:lpstr>
      <vt:lpstr>SYSTEM ARCHITECTURE</vt:lpstr>
      <vt:lpstr>MODULE IMPLEMENTATION</vt:lpstr>
      <vt:lpstr>RESULTS AND DISCUSSIONS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Amanullah Fazil S.</cp:lastModifiedBy>
  <cp:revision>130</cp:revision>
  <dcterms:created xsi:type="dcterms:W3CDTF">2019-11-06T07:48:53Z</dcterms:created>
  <dcterms:modified xsi:type="dcterms:W3CDTF">2026-09-17T08:34:24Z</dcterms:modified>
</cp:coreProperties>
</file>